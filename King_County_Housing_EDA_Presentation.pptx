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132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F6F78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D98E4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COUNTY HOUSING MARKET · EDA BRIEFING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Data Into Returns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of home sales, timing, renovation value,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location — with recommendations for a seller-investor client.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1005840" cy="0"/>
          </a:xfrm>
          <a:prstGeom prst="line">
            <a:avLst/>
          </a:prstGeom>
          <a:noFill/>
          <a:ln w="25400">
            <a:solidFill>
              <a:srgbClr val="D98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 Thormann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Profile: Charles Christensen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3400" y="1508760"/>
            <a:ext cx="3291840" cy="4617720"/>
          </a:xfrm>
          <a:prstGeom prst="roundRect">
            <a:avLst>
              <a:gd name="adj" fmla="val 3333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965960"/>
            <a:ext cx="1645920" cy="1645920"/>
          </a:xfrm>
          <a:prstGeom prst="ellipse">
            <a:avLst/>
          </a:prstGeom>
          <a:solidFill>
            <a:srgbClr val="D98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371600" y="19659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Charles</a:t>
            </a:r>
            <a:endParaRPr lang="en-US" sz="22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Christensen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417320" y="46177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417320" y="4617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/ INVESTOR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60520" y="1508760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3891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6184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 Investment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95681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capital be redeployed for the strongest resale gains?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2660904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0" y="2980944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38912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7706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Renovate or Not?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08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unsure whether renovating before resale actually pays off.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3813048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4133088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8912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2277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Neighborhood?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42611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preference — open to wherever the numbers point.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4965192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0" y="5285232"/>
            <a:ext cx="365760" cy="36576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38912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50749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Timing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541324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he buy, and when should he sell?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King County Housing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Scope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King County home sale records (incl. Seattle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46304" cy="146304"/>
          </a:xfrm>
          <a:prstGeom prst="ellipse">
            <a:avLst/>
          </a:prstGeom>
          <a:solidFill>
            <a:srgbClr val="D98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41248" y="314553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sale date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46557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transaction record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46304" cy="146304"/>
          </a:xfrm>
          <a:prstGeom prst="ellipse">
            <a:avLst/>
          </a:prstGeom>
          <a:solidFill>
            <a:srgbClr val="D98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" y="389534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location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2153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footage, coordinates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146304" cy="146304"/>
          </a:xfrm>
          <a:prstGeom prst="ellipse">
            <a:avLst/>
          </a:prstGeom>
          <a:solidFill>
            <a:srgbClr val="D98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" y="46451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renovation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965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built, year renovated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495544"/>
            <a:ext cx="146304" cy="146304"/>
          </a:xfrm>
          <a:prstGeom prst="ellipse">
            <a:avLst/>
          </a:prstGeom>
          <a:solidFill>
            <a:srgbClr val="D98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1248" y="53949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&amp; grade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7150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ratings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engineered: season, distance to Seattle, and geographic grid clusters (used in later sections).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18120" y="1417320"/>
            <a:ext cx="3840480" cy="4892040"/>
          </a:xfrm>
          <a:prstGeom prst="roundRect">
            <a:avLst>
              <a:gd name="adj" fmla="val 2857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0924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21,597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sale records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2440" y="2999232"/>
            <a:ext cx="3291840" cy="0"/>
          </a:xfrm>
          <a:prstGeom prst="line">
            <a:avLst/>
          </a:prstGeom>
          <a:noFill/>
          <a:ln w="12700">
            <a:solidFill>
              <a:srgbClr val="2E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09244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$450,000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3575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sale price  (range $78K – $7.7M)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92440" y="4023360"/>
            <a:ext cx="3291840" cy="0"/>
          </a:xfrm>
          <a:prstGeom prst="line">
            <a:avLst/>
          </a:prstGeom>
          <a:noFill/>
          <a:ln w="12700">
            <a:solidFill>
              <a:srgbClr val="2E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092440" y="41513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2014 – May 2015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590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date window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2440" y="5047488"/>
            <a:ext cx="3291840" cy="0"/>
          </a:xfrm>
          <a:prstGeom prst="line">
            <a:avLst/>
          </a:prstGeom>
          <a:noFill/>
          <a:ln w="12700">
            <a:solidFill>
              <a:srgbClr val="2E4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092440" y="51755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 – 2015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5614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year built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Hypotheses to 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diving into the numbers, here's what we set out to test — each one gets its own verdict in the sections that follow.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fluctuate depending on season — lower in winter, higher in summer.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3017520" cy="0"/>
          </a:xfrm>
          <a:prstGeom prst="line">
            <a:avLst/>
          </a:prstGeom>
          <a:noFill/>
          <a:ln w="12700">
            <a:solidFill>
              <a:srgbClr val="B9D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285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Slide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210312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23774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5166360"/>
            <a:ext cx="3017520" cy="0"/>
          </a:xfrm>
          <a:prstGeom prst="line">
            <a:avLst/>
          </a:prstGeom>
          <a:noFill/>
          <a:ln w="12700">
            <a:solidFill>
              <a:srgbClr val="B9D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2084832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12480" y="23774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17720" y="2377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Renovation Age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homes renovated in the last 20 years, the price increase from renovation is largest for homes built before 1950.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12480" y="5166360"/>
            <a:ext cx="3017520" cy="0"/>
          </a:xfrm>
          <a:prstGeom prst="line">
            <a:avLst/>
          </a:prstGeom>
          <a:noFill/>
          <a:ln w="12700">
            <a:solidFill>
              <a:srgbClr val="B9D2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617720" y="5285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Slide 5</a:t>
            </a:r>
            <a:endParaRPr lang="en-US" sz="10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5781CDB-A8F3-1A5E-FA4F-A9418B31A761}"/>
              </a:ext>
            </a:extLst>
          </p:cNvPr>
          <p:cNvSpPr txBox="1"/>
          <p:nvPr/>
        </p:nvSpPr>
        <p:spPr>
          <a:xfrm>
            <a:off x="8412480" y="2377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6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B0ECEA12-186D-0D21-0B76-C626D4EA1350}"/>
              </a:ext>
            </a:extLst>
          </p:cNvPr>
          <p:cNvSpPr txBox="1"/>
          <p:nvPr/>
        </p:nvSpPr>
        <p:spPr>
          <a:xfrm>
            <a:off x="8412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&amp; ROI</a:t>
            </a:r>
            <a:endParaRPr lang="en-US" sz="165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9FDB55B3-FFF5-5492-6B0C-6C2807476550}"/>
              </a:ext>
            </a:extLst>
          </p:cNvPr>
          <p:cNvSpPr txBox="1"/>
          <p:nvPr/>
        </p:nvSpPr>
        <p:spPr>
          <a:xfrm>
            <a:off x="841248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located closer to Seattle allow for a higher return on investment.</a:t>
            </a:r>
            <a:endParaRPr lang="en-US" sz="125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52B562E-D470-9EEE-20C7-608177B78782}"/>
              </a:ext>
            </a:extLst>
          </p:cNvPr>
          <p:cNvSpPr txBox="1"/>
          <p:nvPr/>
        </p:nvSpPr>
        <p:spPr>
          <a:xfrm>
            <a:off x="8412480" y="5285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Slides 7–8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TESTING H1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the Market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5" name="Image 0" descr="/home/claude/plots/avg_price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486400" cy="3429000"/>
          </a:xfrm>
          <a:prstGeom prst="rect">
            <a:avLst/>
          </a:prstGeom>
        </p:spPr>
      </p:pic>
      <p:pic>
        <p:nvPicPr>
          <p:cNvPr id="6" name="Image 1" descr="/home/claude/plots/monthly_sa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17320"/>
            <a:ext cx="5577840" cy="3429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73152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54864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is the seller's market (avg. $552,782); Winter is the buyer's market (avg. $519,613)— a ~6% price gap.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909560" y="5257800"/>
            <a:ext cx="0" cy="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8183880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9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183880" y="5486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 Winter, sell in Spring to capture the widest price spread.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TESTING H2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Renovation Pay Off?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5" name="Image 0" descr="/home/claude/plots/v2_cell11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654570"/>
            <a:ext cx="5760720" cy="39232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630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7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766560" y="162763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+32.17%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premium on price/sqft — homes built 1950 or later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37960" y="36118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ED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766560" y="377647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+0.90%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4572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 premium on price/sqft — homes built before 1950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37960" y="571500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766560" y="58064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unaccounted factors may relate to this finding. Further analysis is warranted.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Resale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measure real return on investment, we can't just compare different homes to each other — we need to follow the same property from purchase to resale.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Repeat Sales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dataset down to property IDs that appear more than once — meaning that home was bought and later resold.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34747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256032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177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the Transactions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property's earlier purchase price with its later sale price, and record the time held between them.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927848" y="34747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D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256032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412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Annualized ROI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657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% price increase, normalized per year held — so a quick flip and a year-long hold are fairly comparable.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95800" y="5440680"/>
            <a:ext cx="2714368" cy="868680"/>
          </a:xfrm>
          <a:prstGeom prst="roundRect">
            <a:avLst>
              <a:gd name="adj" fmla="val 1052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801835" y="5537063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177 resale pairs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151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· TESTING H3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Distance to Seattle Predict Returns?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5" name="Image 0" descr="/home/claude/plots/scatter_roi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67512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41732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F5E4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635240" y="15727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44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−0.07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212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4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0.359  —  not statistically significant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320497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towards higher return for closer homes may be present, but the relation is very weak.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502920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FC2A176-9EDE-FD1B-6B28-98CC76F139C1}"/>
              </a:ext>
            </a:extLst>
          </p:cNvPr>
          <p:cNvSpPr/>
          <p:nvPr/>
        </p:nvSpPr>
        <p:spPr>
          <a:xfrm>
            <a:off x="7406640" y="4576572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28F8859-5EFC-3DAF-0132-66BE29591C76}"/>
              </a:ext>
            </a:extLst>
          </p:cNvPr>
          <p:cNvSpPr txBox="1"/>
          <p:nvPr/>
        </p:nvSpPr>
        <p:spPr>
          <a:xfrm>
            <a:off x="7635240" y="4831986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“closer to the city” is not, by itself, a reliable investment rule. The real pattern lives at the neighborhood level — see next.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· GEOGRAPHIC DEEP DIVE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by Neighborhood Cluster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5" name="Image 0" descr="/home/claude/plots/heatmap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694944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7E7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0" y="14813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~149%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9933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annual ROI in the strongest micro-clusters (southern &amp; western grid cells)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43800" y="306324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D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72400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low as ~2%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6850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annual ROI just a few grid cells away, in the eastern inland cells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43800" y="475488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72400" y="48646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still drives returns, however distance itself is less important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1F6F7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D9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 · WRAPPING 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Charles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in Winter, sell in Spring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61688" y="16916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36008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Renovate newer stock, not older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129016" y="16916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03336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8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FB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specific clusters, not “distance”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94360" y="5532120"/>
            <a:ext cx="10972800" cy="0"/>
          </a:xfrm>
          <a:prstGeom prst="line">
            <a:avLst/>
          </a:prstGeom>
          <a:noFill/>
          <a:ln w="12700">
            <a:solidFill>
              <a:srgbClr val="355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617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Breitbild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 Thomann</cp:lastModifiedBy>
  <cp:revision>13</cp:revision>
  <dcterms:created xsi:type="dcterms:W3CDTF">2026-09-17T14:57:49Z</dcterms:created>
  <dcterms:modified xsi:type="dcterms:W3CDTF">2026-09-18T11:51:20Z</dcterms:modified>
</cp:coreProperties>
</file>